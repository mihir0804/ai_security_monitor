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8"/>
  </p:notesMasterIdLst>
  <p:handoutMasterIdLst>
    <p:handoutMasterId r:id="rId19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5" r:id="rId11"/>
    <p:sldId id="340" r:id="rId12"/>
    <p:sldId id="341" r:id="rId13"/>
    <p:sldId id="342" r:id="rId14"/>
    <p:sldId id="343" r:id="rId15"/>
    <p:sldId id="344" r:id="rId16"/>
    <p:sldId id="304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67BBC5-90FB-0B4C-ED85-F72C7BA7CE4A}" v="1" dt="2022-06-06T12:10:26.221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88" d="100"/>
          <a:sy n="88" d="100"/>
        </p:scale>
        <p:origin x="370" y="53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xmlns="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1/2/2026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1/2/2026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1/2/2026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1/2/2026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1/2/2026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xmlns="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xmlns="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xmlns="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xmlns="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xmlns="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xmlns="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xmlns="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xmlns="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xmlns="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xmlns="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xmlns="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xmlns="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xmlns="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xmlns="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xmlns="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xmlns="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xmlns="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xmlns="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xmlns="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xmlns="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xmlns="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xmlns="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xmlns="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xmlns="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xmlns="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xmlns="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xmlns="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xmlns="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xmlns="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xmlns="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xmlns="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xmlns="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xmlns="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xmlns="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xmlns="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xmlns="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xmlns="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xmlns="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xmlns="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xmlns="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xmlns="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1/2/2026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xmlns="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xmlns="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abc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abc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abc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ihir0804/AI_Security_Monitor" TargetMode="Externa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mihir-ughade-00601223a/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Relationship Id="rId4" Type="http://schemas.openxmlformats.org/officeDocument/2006/relationships/hyperlink" Target="https://www.google.com/search?q=https://github.com/mihir0804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xmlns="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76417" y="3299931"/>
            <a:ext cx="5141343" cy="459236"/>
          </a:xfrm>
        </p:spPr>
        <p:txBody>
          <a:bodyPr>
            <a:noAutofit/>
          </a:bodyPr>
          <a:lstStyle/>
          <a:p>
            <a:r>
              <a:rPr lang="en-US" sz="1800" u="sng" dirty="0" smtClean="0">
                <a:solidFill>
                  <a:schemeClr val="tx1"/>
                </a:solidFill>
                <a:latin typeface="Georgia" panose="02040502050405020303" pitchFamily="18" charset="0"/>
              </a:rPr>
              <a:t>Student Name </a:t>
            </a:r>
            <a:r>
              <a:rPr lang="en-US" sz="1800" dirty="0" smtClean="0">
                <a:solidFill>
                  <a:schemeClr val="tx1"/>
                </a:solidFill>
                <a:latin typeface="Georgia" panose="02040502050405020303" pitchFamily="18" charset="0"/>
              </a:rPr>
              <a:t>- MIHIR MILIND UGHADE</a:t>
            </a:r>
            <a:endParaRPr lang="en-IN" sz="1800" dirty="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xmlns="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20360" y="1468408"/>
            <a:ext cx="4998720" cy="1630393"/>
          </a:xfrm>
        </p:spPr>
        <p:txBody>
          <a:bodyPr>
            <a:normAutofit fontScale="90000"/>
          </a:bodyPr>
          <a:lstStyle/>
          <a:p>
            <a:r>
              <a:rPr lang="en-GB" sz="3200" u="sng" dirty="0" smtClean="0"/>
              <a:t/>
            </a:r>
            <a:br>
              <a:rPr lang="en-GB" sz="3200" u="sng" dirty="0" smtClean="0"/>
            </a:br>
            <a:r>
              <a:rPr lang="en-GB" sz="3200" u="sng" dirty="0" smtClean="0"/>
              <a:t>Project </a:t>
            </a:r>
            <a:r>
              <a:rPr lang="en-GB" sz="3200" u="sng" dirty="0" smtClean="0"/>
              <a:t>Title </a:t>
            </a:r>
            <a:r>
              <a:rPr lang="en-GB" sz="3200" dirty="0" smtClean="0"/>
              <a:t>:–</a:t>
            </a:r>
            <a:br>
              <a:rPr lang="en-GB" sz="3200" dirty="0" smtClean="0"/>
            </a:br>
            <a:r>
              <a:rPr lang="en-US" sz="2400" dirty="0" smtClean="0"/>
              <a:t>AI-Based </a:t>
            </a:r>
            <a:r>
              <a:rPr lang="en-US" sz="2400" dirty="0"/>
              <a:t>Network Intrusion Detection System (Enterprise Edition)</a:t>
            </a:r>
            <a:endParaRPr lang="en-IN" sz="2400" dirty="0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xmlns="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7" name="Text Placeholder 1">
            <a:extLst>
              <a:ext uri="{FF2B5EF4-FFF2-40B4-BE49-F238E27FC236}">
                <a16:creationId xmlns:a16="http://schemas.microsoft.com/office/drawing/2014/main" xmlns="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553200" y="29464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xmlns="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705600" y="30988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xmlns="" id="{7201737A-B873-4D1D-8A41-5ABF5184BC8F}"/>
              </a:ext>
            </a:extLst>
          </p:cNvPr>
          <p:cNvSpPr txBox="1">
            <a:spLocks/>
          </p:cNvSpPr>
          <p:nvPr/>
        </p:nvSpPr>
        <p:spPr>
          <a:xfrm>
            <a:off x="4876417" y="3967747"/>
            <a:ext cx="6127246" cy="11175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smtClean="0">
                <a:solidFill>
                  <a:schemeClr val="tx1"/>
                </a:solidFill>
                <a:latin typeface="Georgia" panose="02040502050405020303" pitchFamily="18" charset="0"/>
              </a:rPr>
              <a:t>AICTE </a:t>
            </a:r>
            <a:r>
              <a:rPr lang="en-US" sz="1600" dirty="0" smtClean="0">
                <a:solidFill>
                  <a:schemeClr val="tx1"/>
                </a:solidFill>
                <a:latin typeface="Georgia" panose="02040502050405020303" pitchFamily="18" charset="0"/>
              </a:rPr>
              <a:t>ID </a:t>
            </a:r>
            <a:r>
              <a:rPr lang="en-US" sz="1600" dirty="0" smtClean="0">
                <a:solidFill>
                  <a:schemeClr val="tx1"/>
                </a:solidFill>
                <a:latin typeface="Georgia" panose="02040502050405020303" pitchFamily="18" charset="0"/>
              </a:rPr>
              <a:t>:</a:t>
            </a:r>
          </a:p>
          <a:p>
            <a:r>
              <a:rPr lang="en-IN" sz="1600" u="sng" dirty="0" smtClean="0">
                <a:solidFill>
                  <a:schemeClr val="tx1"/>
                </a:solidFill>
                <a:latin typeface="Georgia" panose="02040502050405020303" pitchFamily="18" charset="0"/>
              </a:rPr>
              <a:t>Apply ID</a:t>
            </a:r>
            <a:r>
              <a:rPr lang="en-IN" sz="1600" dirty="0" smtClean="0">
                <a:solidFill>
                  <a:schemeClr val="tx1"/>
                </a:solidFill>
                <a:latin typeface="Georgia" panose="02040502050405020303" pitchFamily="18" charset="0"/>
              </a:rPr>
              <a:t>: </a:t>
            </a:r>
            <a:r>
              <a:rPr lang="en-IN" sz="1400" dirty="0" smtClean="0">
                <a:solidFill>
                  <a:schemeClr val="tx1"/>
                </a:solidFill>
                <a:latin typeface="Georgia" panose="02040502050405020303" pitchFamily="18" charset="0"/>
              </a:rPr>
              <a:t>APPLY_176424501069283e1299f48</a:t>
            </a:r>
            <a:endParaRPr lang="en-IN" sz="1400" dirty="0">
              <a:solidFill>
                <a:schemeClr val="tx1"/>
              </a:solidFill>
              <a:latin typeface="Georgia" panose="02040502050405020303" pitchFamily="18" charset="0"/>
            </a:endParaRPr>
          </a:p>
          <a:p>
            <a:r>
              <a:rPr lang="en-IN" sz="1600" u="sng" dirty="0">
                <a:solidFill>
                  <a:schemeClr val="tx1"/>
                </a:solidFill>
                <a:latin typeface="Georgia" panose="02040502050405020303" pitchFamily="18" charset="0"/>
              </a:rPr>
              <a:t>Internship ID</a:t>
            </a:r>
            <a:r>
              <a:rPr lang="en-IN" sz="1600" dirty="0" smtClean="0">
                <a:solidFill>
                  <a:schemeClr val="tx1"/>
                </a:solidFill>
                <a:latin typeface="Georgia" panose="02040502050405020303" pitchFamily="18" charset="0"/>
              </a:rPr>
              <a:t>: </a:t>
            </a:r>
            <a:r>
              <a:rPr lang="en-IN" sz="1400" dirty="0" smtClean="0">
                <a:solidFill>
                  <a:schemeClr val="tx1"/>
                </a:solidFill>
                <a:latin typeface="Georgia" panose="02040502050405020303" pitchFamily="18" charset="0"/>
              </a:rPr>
              <a:t>INTERNSHIP_1762343729690b3b31bb89f</a:t>
            </a:r>
            <a:r>
              <a:rPr lang="en-US" sz="1400" dirty="0" smtClean="0">
                <a:solidFill>
                  <a:schemeClr val="tx1"/>
                </a:solidFill>
                <a:latin typeface="Georgia" panose="02040502050405020303" pitchFamily="18" charset="0"/>
              </a:rPr>
              <a:t> </a:t>
            </a:r>
            <a:endParaRPr lang="en-IN" sz="1400" dirty="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1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6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1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  <p:bldP spid="7" grpId="0"/>
      <p:bldP spid="8" grpId="0"/>
      <p:bldP spid="9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xmlns="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54602" y="2102230"/>
            <a:ext cx="6431280" cy="3607987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Georgia" panose="02040502050405020303" pitchFamily="18" charset="0"/>
              </a:rPr>
              <a:t>Modern Security Operations Centers (SOCs) face high volumes of network traffic, making manual analysis impossible. Traditional rule-based firewalls often miss novel attack patterns. There is a critical need for an automated, AI-driven system to identify malicious patterns in real-time with high precision.</a:t>
            </a:r>
            <a:endParaRPr lang="en-IN" dirty="0">
              <a:latin typeface="Georgia" panose="02040502050405020303" pitchFamily="18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xmlns="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xmlns="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359" y="879894"/>
            <a:ext cx="8486860" cy="4537494"/>
          </a:xfrm>
        </p:spPr>
        <p:txBody>
          <a:bodyPr>
            <a:noAutofit/>
          </a:bodyPr>
          <a:lstStyle/>
          <a:p>
            <a:r>
              <a:rPr lang="en-GB" sz="3600" u="sng" dirty="0" smtClean="0"/>
              <a:t>Project </a:t>
            </a:r>
            <a:r>
              <a:rPr lang="en-GB" sz="3600" u="sng" dirty="0" smtClean="0"/>
              <a:t>Description</a:t>
            </a:r>
            <a:r>
              <a:rPr lang="en-GB" sz="3600" dirty="0" smtClean="0"/>
              <a:t>:-</a:t>
            </a:r>
            <a:br>
              <a:rPr lang="en-GB" sz="3600" dirty="0" smtClean="0"/>
            </a:br>
            <a:r>
              <a:rPr lang="en-GB" sz="3600" dirty="0" smtClean="0"/>
              <a:t/>
            </a:r>
            <a:br>
              <a:rPr lang="en-GB" sz="3600" dirty="0" smtClean="0"/>
            </a:br>
            <a:r>
              <a:rPr lang="en-GB" sz="1600" dirty="0" smtClean="0"/>
              <a:t/>
            </a:r>
            <a:br>
              <a:rPr lang="en-GB" sz="1600" dirty="0" smtClean="0"/>
            </a:br>
            <a:r>
              <a:rPr lang="en-US" sz="2400" b="0" dirty="0" smtClean="0">
                <a:latin typeface="Georgia" panose="02040502050405020303" pitchFamily="18" charset="0"/>
              </a:rPr>
              <a:t>This </a:t>
            </a:r>
            <a:r>
              <a:rPr lang="en-US" sz="2400" b="0" dirty="0">
                <a:latin typeface="Georgia" panose="02040502050405020303" pitchFamily="18" charset="0"/>
              </a:rPr>
              <a:t>project is a Network Intrusion Detection System (NIDS) built using Python and Machine Learning. It utilizes a Random Forest Classifier to distinguish between benign traffic and malicious attacks (such as </a:t>
            </a:r>
            <a:r>
              <a:rPr lang="en-US" sz="2400" b="0" dirty="0" err="1">
                <a:latin typeface="Georgia" panose="02040502050405020303" pitchFamily="18" charset="0"/>
              </a:rPr>
              <a:t>DDoS</a:t>
            </a:r>
            <a:r>
              <a:rPr lang="en-US" sz="2400" b="0" dirty="0">
                <a:latin typeface="Georgia" panose="02040502050405020303" pitchFamily="18" charset="0"/>
              </a:rPr>
              <a:t> or Port Scanning). The system features a real-time 'Heads-Up Display' (HUD) dashboard for visualization and a Live Packet Inspector for simulation.</a:t>
            </a:r>
            <a:r>
              <a:rPr lang="en-GB" sz="1600" dirty="0"/>
              <a:t/>
            </a:r>
            <a:br>
              <a:rPr lang="en-GB" sz="1600" dirty="0"/>
            </a:br>
            <a:endParaRPr lang="en-IN" sz="1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xmlns="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20008" y="1851787"/>
            <a:ext cx="7904481" cy="323779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b="1" u="sng" dirty="0"/>
              <a:t>Target Audience</a:t>
            </a:r>
            <a:r>
              <a:rPr lang="en-US" sz="3200" b="1" dirty="0" smtClean="0"/>
              <a:t>:-</a:t>
            </a:r>
          </a:p>
          <a:p>
            <a:pPr marL="0" indent="0">
              <a:buNone/>
            </a:pPr>
            <a:endParaRPr lang="en-US" sz="3200" dirty="0"/>
          </a:p>
          <a:p>
            <a:r>
              <a:rPr lang="en-US" sz="3200" dirty="0"/>
              <a:t>Network Security Engineers</a:t>
            </a:r>
          </a:p>
          <a:p>
            <a:r>
              <a:rPr lang="en-US" sz="3200" dirty="0"/>
              <a:t>System Administrators</a:t>
            </a:r>
          </a:p>
          <a:p>
            <a:r>
              <a:rPr lang="en-US" sz="3200" dirty="0"/>
              <a:t>Security Operations Center (SOC) Analysts</a:t>
            </a:r>
          </a:p>
          <a:p>
            <a:r>
              <a:rPr lang="en-US" sz="3200" dirty="0"/>
              <a:t>Enterprise IT Managers</a:t>
            </a:r>
          </a:p>
          <a:p>
            <a:pPr marL="0" indent="0" algn="just">
              <a:lnSpc>
                <a:spcPct val="150000"/>
              </a:lnSpc>
              <a:buNone/>
            </a:pPr>
            <a:endParaRPr lang="en-IN" sz="36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xmlns="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xmlns="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0" y="3847976"/>
            <a:ext cx="1727200" cy="3010024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xmlns="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0473" y="505681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 smtClean="0"/>
              <a:t>Technology Used</a:t>
            </a:r>
            <a:endParaRPr lang="en-US" dirty="0"/>
          </a:p>
        </p:txBody>
      </p:sp>
      <p:sp>
        <p:nvSpPr>
          <p:cNvPr id="3" name="Rectangle 1"/>
          <p:cNvSpPr>
            <a:spLocks noGrp="1" noChangeArrowheads="1"/>
          </p:cNvSpPr>
          <p:nvPr>
            <p:ph type="body" sz="quarter" idx="12"/>
          </p:nvPr>
        </p:nvSpPr>
        <p:spPr bwMode="auto">
          <a:xfrm>
            <a:off x="761461" y="1727279"/>
            <a:ext cx="8762101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2400" b="1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Language</a:t>
            </a:r>
            <a:r>
              <a:rPr kumimoji="0" 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:-</a:t>
            </a: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Python 3.8+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2400" b="1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Machine Learning</a:t>
            </a:r>
            <a:r>
              <a:rPr kumimoji="0" 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:-</a:t>
            </a: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Scikit</a:t>
            </a: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-Learn (Random Forest)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2400" b="1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Dashboard UI</a:t>
            </a:r>
            <a:r>
              <a:rPr kumimoji="0" 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:-</a:t>
            </a: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Streamlit</a:t>
            </a: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2400" b="1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Processing</a:t>
            </a:r>
            <a:r>
              <a:rPr kumimoji="0" 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:-</a:t>
            </a: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Pandas &amp; </a:t>
            </a:r>
            <a:r>
              <a:rPr kumimoji="0" 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Numpy</a:t>
            </a: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2400" b="1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Visualization</a:t>
            </a:r>
            <a:r>
              <a:rPr kumimoji="0" 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:-</a:t>
            </a: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Plotly</a:t>
            </a: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&amp; </a:t>
            </a:r>
            <a:r>
              <a:rPr kumimoji="0" 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Seaborn</a:t>
            </a: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xmlns="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959" y="215313"/>
            <a:ext cx="2501396" cy="750845"/>
          </a:xfrm>
        </p:spPr>
        <p:txBody>
          <a:bodyPr>
            <a:normAutofit/>
          </a:bodyPr>
          <a:lstStyle/>
          <a:p>
            <a:r>
              <a:rPr lang="en-GB" sz="4000" dirty="0"/>
              <a:t>RESULTS</a:t>
            </a:r>
            <a:r>
              <a:rPr lang="en-GB" sz="3600" dirty="0"/>
              <a:t> </a:t>
            </a:r>
            <a:endParaRPr lang="en-IN" sz="36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xmlns="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xmlns="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xmlns="" id="{E25373E9-1A26-4A40-9897-E42DE485D8E3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r>
              <a:rPr lang="en-GB" sz="2000" b="0" u="sng" dirty="0">
                <a:solidFill>
                  <a:srgbClr val="0070C0"/>
                </a:solidFill>
                <a:hlinkClick r:id="rId3" action="ppaction://hlinkfile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Demo Link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xmlns="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959" y="1120605"/>
            <a:ext cx="8664640" cy="394310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82948" y="5337333"/>
            <a:ext cx="5544661" cy="40011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Georgia" panose="02040502050405020303" pitchFamily="18" charset="0"/>
              </a:rPr>
              <a:t>The "Healthy System" (Dashboard View)</a:t>
            </a:r>
            <a:endParaRPr lang="en-IN" sz="2000" b="1" dirty="0">
              <a:solidFill>
                <a:schemeClr val="accent4"/>
              </a:solidFill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41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42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3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44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5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46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7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48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xmlns="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429" y="155928"/>
            <a:ext cx="2438179" cy="690460"/>
          </a:xfrm>
        </p:spPr>
        <p:txBody>
          <a:bodyPr>
            <a:normAutofit fontScale="90000"/>
          </a:bodyPr>
          <a:lstStyle/>
          <a:p>
            <a:r>
              <a:rPr lang="en-GB" sz="4000" dirty="0"/>
              <a:t>RESULTS </a:t>
            </a:r>
            <a:endParaRPr lang="en-IN" sz="40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xmlns="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xmlns="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xmlns="" id="{E25373E9-1A26-4A40-9897-E42DE485D8E3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r>
              <a:rPr lang="en-GB" sz="2000" b="0" u="sng" dirty="0">
                <a:solidFill>
                  <a:srgbClr val="0070C0"/>
                </a:solidFill>
                <a:hlinkClick r:id="rId3" action="ppaction://hlinkfile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Demo Link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xmlns="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06372" y="5181533"/>
            <a:ext cx="5039248" cy="459390"/>
          </a:xfrm>
          <a:ln w="38100">
            <a:solidFill>
              <a:schemeClr val="tx1"/>
            </a:solidFill>
          </a:ln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chemeClr val="accent4"/>
                </a:solidFill>
                <a:latin typeface="Georgia" panose="02040502050405020303" pitchFamily="18" charset="0"/>
              </a:rPr>
              <a:t>The "Attack Detected" (The Red Box)</a:t>
            </a:r>
            <a:endParaRPr lang="en-IN" b="1" dirty="0">
              <a:solidFill>
                <a:schemeClr val="accent4"/>
              </a:solidFill>
              <a:latin typeface="Georgia" panose="020405020504050203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429" y="927018"/>
            <a:ext cx="8995134" cy="4093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2952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xmlns="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258447"/>
            <a:ext cx="2636586" cy="699085"/>
          </a:xfrm>
        </p:spPr>
        <p:txBody>
          <a:bodyPr>
            <a:normAutofit fontScale="90000"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xmlns="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xmlns="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xmlns="" id="{E25373E9-1A26-4A40-9897-E42DE485D8E3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r>
              <a:rPr lang="en-GB" sz="2000" b="0" u="sng" dirty="0">
                <a:solidFill>
                  <a:srgbClr val="0070C0"/>
                </a:solidFill>
                <a:hlinkClick r:id="rId3" action="ppaction://hlinkfile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Demo Link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xmlns="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01841" y="5163403"/>
            <a:ext cx="5133285" cy="477520"/>
          </a:xfrm>
          <a:ln w="38100">
            <a:solidFill>
              <a:schemeClr val="tx1"/>
            </a:solidFill>
          </a:ln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4"/>
                </a:solidFill>
                <a:latin typeface="Georgia" panose="02040502050405020303" pitchFamily="18" charset="0"/>
              </a:rPr>
              <a:t>The "Smart AI" (The Suspicious Case)</a:t>
            </a:r>
            <a:endParaRPr lang="en-IN" b="1" dirty="0">
              <a:solidFill>
                <a:schemeClr val="accent4"/>
              </a:solidFill>
              <a:latin typeface="Georgia" panose="020405020504050203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957" y="1120094"/>
            <a:ext cx="8785055" cy="3923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153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3">
            <a:extLst>
              <a:ext uri="{FF2B5EF4-FFF2-40B4-BE49-F238E27FC236}">
                <a16:creationId xmlns:a16="http://schemas.microsoft.com/office/drawing/2014/main" xmlns="" id="{AFE3A2AF-177E-45E6-A191-0F8523DB7FFA}"/>
              </a:ext>
            </a:extLst>
          </p:cNvPr>
          <p:cNvSpPr txBox="1">
            <a:spLocks/>
          </p:cNvSpPr>
          <p:nvPr/>
        </p:nvSpPr>
        <p:spPr>
          <a:xfrm>
            <a:off x="208646" y="170178"/>
            <a:ext cx="8671243" cy="511309"/>
          </a:xfrm>
          <a:prstGeom prst="rect">
            <a:avLst/>
          </a:prstGeom>
        </p:spPr>
        <p:txBody>
          <a:bodyPr>
            <a:normAutofit fontScale="85000" lnSpcReduction="2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IN" b="1" u="sng" dirty="0" smtClean="0">
                <a:solidFill>
                  <a:schemeClr val="tx1"/>
                </a:solidFill>
              </a:rPr>
              <a:t>Certificate - Protection </a:t>
            </a:r>
            <a:r>
              <a:rPr lang="en-IN" b="1" u="sng" dirty="0">
                <a:solidFill>
                  <a:schemeClr val="tx1"/>
                </a:solidFill>
              </a:rPr>
              <a:t>from browser </a:t>
            </a:r>
            <a:r>
              <a:rPr lang="en-IN" b="1" u="sng" dirty="0" smtClean="0">
                <a:solidFill>
                  <a:schemeClr val="tx1"/>
                </a:solidFill>
              </a:rPr>
              <a:t>attacks</a:t>
            </a:r>
            <a:r>
              <a:rPr lang="en-GB" b="1" u="sng" dirty="0" smtClean="0">
                <a:solidFill>
                  <a:schemeClr val="tx1"/>
                </a:solidFill>
              </a:rPr>
              <a:t> </a:t>
            </a:r>
            <a:endParaRPr lang="en-IN" b="1" u="sng" dirty="0">
              <a:solidFill>
                <a:schemeClr val="tx1"/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938" y="836557"/>
            <a:ext cx="7495179" cy="5303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7956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3">
            <a:extLst>
              <a:ext uri="{FF2B5EF4-FFF2-40B4-BE49-F238E27FC236}">
                <a16:creationId xmlns:a16="http://schemas.microsoft.com/office/drawing/2014/main" xmlns="" id="{AFE3A2AF-177E-45E6-A191-0F8523DB7FFA}"/>
              </a:ext>
            </a:extLst>
          </p:cNvPr>
          <p:cNvSpPr txBox="1">
            <a:spLocks/>
          </p:cNvSpPr>
          <p:nvPr/>
        </p:nvSpPr>
        <p:spPr>
          <a:xfrm>
            <a:off x="346670" y="92540"/>
            <a:ext cx="8671243" cy="563068"/>
          </a:xfrm>
          <a:prstGeom prst="rect">
            <a:avLst/>
          </a:prstGeom>
        </p:spPr>
        <p:txBody>
          <a:bodyPr>
            <a:normAutofit fontScale="850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IN" b="1" u="sng" dirty="0" smtClean="0">
                <a:solidFill>
                  <a:schemeClr val="tx1"/>
                </a:solidFill>
              </a:rPr>
              <a:t>Certificate </a:t>
            </a:r>
            <a:r>
              <a:rPr lang="en-IN" b="1" u="sng" dirty="0">
                <a:solidFill>
                  <a:schemeClr val="tx1"/>
                </a:solidFill>
              </a:rPr>
              <a:t>- Introduction to System Security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092" y="858058"/>
            <a:ext cx="7480400" cy="5292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4512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3">
            <a:extLst>
              <a:ext uri="{FF2B5EF4-FFF2-40B4-BE49-F238E27FC236}">
                <a16:creationId xmlns:a16="http://schemas.microsoft.com/office/drawing/2014/main" xmlns="" id="{AFE3A2AF-177E-45E6-A191-0F8523DB7FFA}"/>
              </a:ext>
            </a:extLst>
          </p:cNvPr>
          <p:cNvSpPr txBox="1">
            <a:spLocks/>
          </p:cNvSpPr>
          <p:nvPr/>
        </p:nvSpPr>
        <p:spPr>
          <a:xfrm>
            <a:off x="1068629" y="127046"/>
            <a:ext cx="7348091" cy="485429"/>
          </a:xfrm>
          <a:prstGeom prst="rect">
            <a:avLst/>
          </a:prstGeom>
        </p:spPr>
        <p:txBody>
          <a:bodyPr>
            <a:normAutofit fontScale="85000" lnSpcReduction="2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IN" b="1" u="sng" dirty="0" smtClean="0">
                <a:solidFill>
                  <a:schemeClr val="tx1"/>
                </a:solidFill>
              </a:rPr>
              <a:t>Certificate </a:t>
            </a:r>
            <a:r>
              <a:rPr lang="en-IN" b="1" u="sng" dirty="0">
                <a:solidFill>
                  <a:schemeClr val="tx1"/>
                </a:solidFill>
              </a:rPr>
              <a:t>- Securing Android Devices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211" y="715994"/>
            <a:ext cx="7790925" cy="5512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004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0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21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2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23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4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5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6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7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xmlns="" id="{AFE3A2AF-177E-45E6-A191-0F8523DB7FFA}"/>
              </a:ext>
            </a:extLst>
          </p:cNvPr>
          <p:cNvSpPr txBox="1">
            <a:spLocks/>
          </p:cNvSpPr>
          <p:nvPr/>
        </p:nvSpPr>
        <p:spPr>
          <a:xfrm>
            <a:off x="371155" y="583026"/>
            <a:ext cx="8671243" cy="8309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IN" b="1" u="sng" dirty="0" err="1" smtClean="0">
                <a:solidFill>
                  <a:schemeClr val="tx1"/>
                </a:solidFill>
              </a:rPr>
              <a:t>GitHub</a:t>
            </a:r>
            <a:r>
              <a:rPr lang="en-IN" b="1" u="sng" dirty="0" smtClean="0">
                <a:solidFill>
                  <a:schemeClr val="tx1"/>
                </a:solidFill>
              </a:rPr>
              <a:t> </a:t>
            </a:r>
            <a:r>
              <a:rPr lang="en-IN" b="1" u="sng" dirty="0" smtClean="0">
                <a:solidFill>
                  <a:schemeClr val="tx1"/>
                </a:solidFill>
              </a:rPr>
              <a:t>link</a:t>
            </a:r>
            <a:r>
              <a:rPr lang="en-IN" b="1" dirty="0" smtClean="0">
                <a:solidFill>
                  <a:schemeClr val="tx1"/>
                </a:solidFill>
              </a:rPr>
              <a:t>:-</a:t>
            </a:r>
            <a:endParaRPr lang="en-IN" b="1" dirty="0">
              <a:solidFill>
                <a:schemeClr val="tx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71155" y="2251493"/>
            <a:ext cx="943707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hlinkClick r:id="rId2"/>
              </a:rPr>
              <a:t>AI-Based Network Intrusion Detection System (NIDS)</a:t>
            </a:r>
            <a:endParaRPr lang="en-IN" sz="3200" b="1" dirty="0"/>
          </a:p>
        </p:txBody>
      </p:sp>
    </p:spTree>
    <p:extLst>
      <p:ext uri="{BB962C8B-B14F-4D97-AF65-F5344CB8AC3E}">
        <p14:creationId xmlns:p14="http://schemas.microsoft.com/office/powerpoint/2010/main" val="356323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0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21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2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23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4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5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6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7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xmlns="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2111" y="1970792"/>
            <a:ext cx="6323584" cy="1535936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/>
            <a:r>
              <a:rPr lang="en-US" sz="7200" b="1" dirty="0" smtClean="0">
                <a:solidFill>
                  <a:schemeClr val="accent5"/>
                </a:solidFill>
                <a:latin typeface="Copperplate Gothic Bold" panose="020E0705020206020404" pitchFamily="34" charset="0"/>
              </a:rPr>
              <a:t>Thank you</a:t>
            </a:r>
            <a:endParaRPr lang="en-US" sz="7200" b="1" dirty="0">
              <a:solidFill>
                <a:schemeClr val="accent5"/>
              </a:solidFill>
              <a:latin typeface="Copperplate Gothic Bold" panose="020E0705020206020404" pitchFamily="34" charset="0"/>
            </a:endParaRP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xmlns="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xmlns="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xmlns="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xmlns="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xmlns="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xmlns="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xmlns="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xmlns="" id="{BC277FD7-925B-4C3D-A364-118403201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78337" y="5216751"/>
            <a:ext cx="7935109" cy="1518483"/>
          </a:xfrm>
        </p:spPr>
        <p:txBody>
          <a:bodyPr>
            <a:noAutofit/>
          </a:bodyPr>
          <a:lstStyle/>
          <a:p>
            <a:r>
              <a:rPr lang="en-IN" sz="1600" dirty="0" err="1"/>
              <a:t>Mihir</a:t>
            </a:r>
            <a:r>
              <a:rPr lang="en-IN" sz="1600" dirty="0"/>
              <a:t> </a:t>
            </a:r>
            <a:r>
              <a:rPr lang="en-IN" sz="1600" dirty="0" err="1"/>
              <a:t>Milind</a:t>
            </a:r>
            <a:r>
              <a:rPr lang="en-IN" sz="1600" dirty="0"/>
              <a:t> </a:t>
            </a:r>
            <a:r>
              <a:rPr lang="en-IN" sz="1600" dirty="0" err="1"/>
              <a:t>Ughade</a:t>
            </a:r>
            <a:r>
              <a:rPr lang="en-IN" sz="1600" dirty="0"/>
              <a:t> MBA (Data Science &amp; AI) </a:t>
            </a:r>
            <a:r>
              <a:rPr lang="en-IN" sz="1600" dirty="0" err="1"/>
              <a:t>Manipal</a:t>
            </a:r>
            <a:r>
              <a:rPr lang="en-IN" sz="1600" dirty="0"/>
              <a:t> University Jaipur</a:t>
            </a:r>
          </a:p>
          <a:p>
            <a:r>
              <a:rPr lang="en-IN" sz="1600" dirty="0"/>
              <a:t>📧 Email: </a:t>
            </a:r>
            <a:r>
              <a:rPr lang="en-IN" sz="1600" dirty="0" smtClean="0"/>
              <a:t>[mihirughade0804@gmail.com]</a:t>
            </a:r>
          </a:p>
          <a:p>
            <a:r>
              <a:rPr lang="en-IN" sz="1600" dirty="0" smtClean="0"/>
              <a:t> </a:t>
            </a:r>
            <a:r>
              <a:rPr lang="en-IN" sz="1600" dirty="0"/>
              <a:t>🔗 LinkedIn: [</a:t>
            </a:r>
            <a:r>
              <a:rPr lang="en-IN" sz="1600" dirty="0">
                <a:hlinkClick r:id="rId3"/>
              </a:rPr>
              <a:t>https://www.linkedin.com/in/mihir-ughade-00601223a/] </a:t>
            </a:r>
            <a:endParaRPr lang="en-IN" sz="1600" dirty="0" smtClean="0"/>
          </a:p>
          <a:p>
            <a:r>
              <a:rPr lang="en-IN" sz="1600" dirty="0" smtClean="0"/>
              <a:t>💻 </a:t>
            </a:r>
            <a:r>
              <a:rPr lang="en-IN" sz="1600" dirty="0" err="1"/>
              <a:t>GitHub</a:t>
            </a:r>
            <a:r>
              <a:rPr lang="en-IN" sz="1600" dirty="0"/>
              <a:t>: </a:t>
            </a:r>
            <a:r>
              <a:rPr lang="en-IN" sz="1600" dirty="0">
                <a:hlinkClick r:id="rId4"/>
              </a:rPr>
              <a:t>https://github.com/mihir0804</a:t>
            </a:r>
            <a:endParaRPr lang="en-IN" sz="1600" dirty="0"/>
          </a:p>
          <a:p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DEA9014-ED64-4558-B1E1-D03F0EE32BEB}">
  <ds:schemaRefs>
    <ds:schemaRef ds:uri="http://www.w3.org/XML/1998/namespace"/>
    <ds:schemaRef ds:uri="http://schemas.microsoft.com/office/2006/metadata/properties"/>
    <ds:schemaRef ds:uri="71af3243-3dd4-4a8d-8c0d-dd76da1f02a5"/>
    <ds:schemaRef ds:uri="http://schemas.microsoft.com/office/infopath/2007/PartnerControls"/>
    <ds:schemaRef ds:uri="http://schemas.microsoft.com/office/2006/documentManagement/types"/>
    <ds:schemaRef ds:uri="http://purl.org/dc/dcmitype/"/>
    <ds:schemaRef ds:uri="16c05727-aa75-4e4a-9b5f-8a80a1165891"/>
    <ds:schemaRef ds:uri="http://schemas.openxmlformats.org/package/2006/metadata/core-properties"/>
    <ds:schemaRef ds:uri="http://purl.org/dc/terms/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900</TotalTime>
  <Words>234</Words>
  <Application>Microsoft Office PowerPoint</Application>
  <PresentationFormat>Widescreen</PresentationFormat>
  <Paragraphs>44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Calibri</vt:lpstr>
      <vt:lpstr>Copperplate Gothic Bold</vt:lpstr>
      <vt:lpstr>Georgia</vt:lpstr>
      <vt:lpstr>Trebuchet MS</vt:lpstr>
      <vt:lpstr>Wingdings</vt:lpstr>
      <vt:lpstr>Wingdings 3</vt:lpstr>
      <vt:lpstr>Facet</vt:lpstr>
      <vt:lpstr> Project Title :– AI-Based Network Intrusion Detection System (Enterprise Edition)</vt:lpstr>
      <vt:lpstr>PROBLEM  STATEMENT</vt:lpstr>
      <vt:lpstr>Project Description:-   This project is a Network Intrusion Detection System (NIDS) built using Python and Machine Learning. It utilizes a Random Forest Classifier to distinguish between benign traffic and malicious attacks (such as DDoS or Port Scanning). The system features a real-time 'Heads-Up Display' (HUD) dashboard for visualization and a Live Packet Inspector for simulation. </vt:lpstr>
      <vt:lpstr>WHO ARE THE END USERS?</vt:lpstr>
      <vt:lpstr>Technology Used</vt:lpstr>
      <vt:lpstr>RESULTS </vt:lpstr>
      <vt:lpstr>RESULTS </vt:lpstr>
      <vt:lpstr>RESULTS 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ADMIN</cp:lastModifiedBy>
  <cp:revision>89</cp:revision>
  <dcterms:created xsi:type="dcterms:W3CDTF">2021-07-11T13:13:15Z</dcterms:created>
  <dcterms:modified xsi:type="dcterms:W3CDTF">2026-01-02T20:35:58Z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